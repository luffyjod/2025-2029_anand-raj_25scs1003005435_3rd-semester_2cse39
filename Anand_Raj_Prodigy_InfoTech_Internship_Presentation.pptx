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 /><Relationship Id="rId2" Type="http://schemas.openxmlformats.org/package/2006/relationships/metadata/thumbnail" Target="docProps/thumbnail.jpeg" /><Relationship Id="rId1" Type="http://schemas.openxmlformats.org/officeDocument/2006/relationships/officeDocument" Target="ppt/presentation.xml" /><Relationship Id="rId4" Type="http://schemas.openxmlformats.org/officeDocument/2006/relationships/extended-properties" Target="docProps/app.xml" 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 /><Relationship Id="rId13" Type="http://schemas.openxmlformats.org/officeDocument/2006/relationships/slide" Target="slides/slide12.xml" /><Relationship Id="rId18" Type="http://schemas.openxmlformats.org/officeDocument/2006/relationships/theme" Target="theme/theme1.xml" /><Relationship Id="rId3" Type="http://schemas.openxmlformats.org/officeDocument/2006/relationships/slide" Target="slides/slide2.xml" /><Relationship Id="rId7" Type="http://schemas.openxmlformats.org/officeDocument/2006/relationships/slide" Target="slides/slide6.xml" /><Relationship Id="rId12" Type="http://schemas.openxmlformats.org/officeDocument/2006/relationships/slide" Target="slides/slide11.xml" /><Relationship Id="rId17" Type="http://schemas.openxmlformats.org/officeDocument/2006/relationships/viewProps" Target="viewProps.xml" /><Relationship Id="rId2" Type="http://schemas.openxmlformats.org/officeDocument/2006/relationships/slide" Target="slides/slide1.xml" /><Relationship Id="rId1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slide" Target="slides/slide5.xml" /><Relationship Id="rId11" Type="http://schemas.openxmlformats.org/officeDocument/2006/relationships/slide" Target="slides/slide10.xml" /><Relationship Id="rId5" Type="http://schemas.openxmlformats.org/officeDocument/2006/relationships/slide" Target="slides/slide4.xml" /><Relationship Id="rId15" Type="http://schemas.openxmlformats.org/officeDocument/2006/relationships/slide" Target="slides/slide14.xml" /><Relationship Id="rId10" Type="http://schemas.openxmlformats.org/officeDocument/2006/relationships/slide" Target="slides/slide9.xml" /><Relationship Id="rId19" Type="http://schemas.openxmlformats.org/officeDocument/2006/relationships/tableStyles" Target="tableStyles.xml" /><Relationship Id="rId4" Type="http://schemas.openxmlformats.org/officeDocument/2006/relationships/slide" Target="slides/slide3.xml" /><Relationship Id="rId9" Type="http://schemas.openxmlformats.org/officeDocument/2006/relationships/slide" Target="slides/slide8.xml" /><Relationship Id="rId14" Type="http://schemas.openxmlformats.org/officeDocument/2006/relationships/slide" Target="slides/slide13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 /><Relationship Id="rId3" Type="http://schemas.openxmlformats.org/officeDocument/2006/relationships/slideLayout" Target="../slideLayouts/slideLayout3.xml" /><Relationship Id="rId7" Type="http://schemas.openxmlformats.org/officeDocument/2006/relationships/slideLayout" Target="../slideLayouts/slideLayout7.xml" /><Relationship Id="rId12" Type="http://schemas.openxmlformats.org/officeDocument/2006/relationships/theme" Target="../theme/theme1.xml" /><Relationship Id="rId2" Type="http://schemas.openxmlformats.org/officeDocument/2006/relationships/slideLayout" Target="../slideLayouts/slideLayout2.xml" /><Relationship Id="rId1" Type="http://schemas.openxmlformats.org/officeDocument/2006/relationships/slideLayout" Target="../slideLayouts/slideLayout1.xml" /><Relationship Id="rId6" Type="http://schemas.openxmlformats.org/officeDocument/2006/relationships/slideLayout" Target="../slideLayouts/slideLayout6.xml" /><Relationship Id="rId11" Type="http://schemas.openxmlformats.org/officeDocument/2006/relationships/slideLayout" Target="../slideLayouts/slideLayout11.xml" /><Relationship Id="rId5" Type="http://schemas.openxmlformats.org/officeDocument/2006/relationships/slideLayout" Target="../slideLayouts/slideLayout5.xml" /><Relationship Id="rId10" Type="http://schemas.openxmlformats.org/officeDocument/2006/relationships/slideLayout" Target="../slideLayouts/slideLayout10.xml" /><Relationship Id="rId4" Type="http://schemas.openxmlformats.org/officeDocument/2006/relationships/slideLayout" Target="../slideLayouts/slideLayout4.xml" /><Relationship Id="rId9" Type="http://schemas.openxmlformats.org/officeDocument/2006/relationships/slideLayout" Target="../slideLayouts/slideLayout9.xml" 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 /><Relationship Id="rId1" Type="http://schemas.openxmlformats.org/officeDocument/2006/relationships/slideLayout" Target="../slideLayouts/slideLayout7.xml" 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 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 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 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 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 /><Relationship Id="rId1" Type="http://schemas.openxmlformats.org/officeDocument/2006/relationships/slideLayout" Target="../slideLayouts/slideLayout7.xml" 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 /><Relationship Id="rId1" Type="http://schemas.openxmlformats.org/officeDocument/2006/relationships/slideLayout" Target="../slideLayouts/slideLayout7.xml" 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 /><Relationship Id="rId1" Type="http://schemas.openxmlformats.org/officeDocument/2006/relationships/slideLayout" Target="../slideLayouts/slideLayout7.xml" 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 /><Relationship Id="rId1" Type="http://schemas.openxmlformats.org/officeDocument/2006/relationships/slideLayout" Target="../slideLayouts/slideLayout7.xml" 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 /><Relationship Id="rId1" Type="http://schemas.openxmlformats.org/officeDocument/2006/relationships/slideLayout" Target="../slideLayouts/slideLayout7.xml" 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 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 /><Relationship Id="rId1" Type="http://schemas.openxmlformats.org/officeDocument/2006/relationships/slideLayout" Target="../slideLayouts/slideLayout7.xml" 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g" /><Relationship Id="rId1" Type="http://schemas.openxmlformats.org/officeDocument/2006/relationships/slideLayout" Target="../slideLayouts/slideLayout7.xml" 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836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iilm_logo_c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60520" y="541020"/>
            <a:ext cx="3886200" cy="5181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14400" y="1508760"/>
            <a:ext cx="10332720" cy="59436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>
              <a:defRPr sz="3000" b="1">
                <a:solidFill>
                  <a:srgbClr val="18365C"/>
                </a:solidFill>
                <a:latin typeface="Aptos Display"/>
              </a:defRPr>
            </a:pPr>
            <a:r>
              <a:t>WEB DEVELOPMENT INTERNSHIP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148840"/>
            <a:ext cx="10332720" cy="36576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>
              <a:defRPr sz="1800" b="0">
                <a:solidFill>
                  <a:srgbClr val="2F67B2"/>
                </a:solidFill>
                <a:latin typeface="Aptos"/>
              </a:defRPr>
            </a:pPr>
            <a:r>
              <a:t>Internship Presentation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4389120" y="2697480"/>
            <a:ext cx="3429000" cy="22860"/>
          </a:xfrm>
          <a:prstGeom prst="rect">
            <a:avLst/>
          </a:prstGeom>
          <a:solidFill>
            <a:srgbClr val="D6DC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926080" y="3017520"/>
            <a:ext cx="2011680" cy="256032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r">
              <a:defRPr sz="1050" b="1">
                <a:solidFill>
                  <a:srgbClr val="66707A"/>
                </a:solidFill>
                <a:latin typeface="Aptos"/>
              </a:defRPr>
            </a:pPr>
            <a:r>
              <a:t>Student Name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74920" y="3017520"/>
            <a:ext cx="4297680" cy="27432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>
              <a:defRPr sz="1250" b="0">
                <a:solidFill>
                  <a:srgbClr val="23282D"/>
                </a:solidFill>
                <a:latin typeface="Aptos"/>
              </a:defRPr>
            </a:pPr>
            <a:r>
              <a:t>ANAND RAJ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26080" y="3410712"/>
            <a:ext cx="2011680" cy="256032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r">
              <a:defRPr sz="1050" b="1">
                <a:solidFill>
                  <a:srgbClr val="66707A"/>
                </a:solidFill>
                <a:latin typeface="Aptos"/>
              </a:defRPr>
            </a:pPr>
            <a:r>
              <a:t>Enrollment No.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74920" y="3410712"/>
            <a:ext cx="1529586" cy="284693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>
              <a:defRPr sz="1250" b="0">
                <a:solidFill>
                  <a:srgbClr val="23282D"/>
                </a:solidFill>
                <a:latin typeface="Aptos"/>
              </a:defRPr>
            </a:pPr>
            <a:r>
              <a:rPr lang="en-IN" dirty="0"/>
              <a:t>25SCS1003005435 </a:t>
            </a:r>
            <a:endParaRPr dirty="0"/>
          </a:p>
        </p:txBody>
      </p:sp>
      <p:sp>
        <p:nvSpPr>
          <p:cNvPr id="12" name="TextBox 11"/>
          <p:cNvSpPr txBox="1"/>
          <p:nvPr/>
        </p:nvSpPr>
        <p:spPr>
          <a:xfrm>
            <a:off x="2926080" y="3803904"/>
            <a:ext cx="2011680" cy="256032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r">
              <a:defRPr sz="1050" b="1">
                <a:solidFill>
                  <a:srgbClr val="66707A"/>
                </a:solidFill>
                <a:latin typeface="Aptos"/>
              </a:defRPr>
            </a:pPr>
            <a:r>
              <a:t>Program &amp; Semester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74920" y="3803904"/>
            <a:ext cx="2093971" cy="284693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>
              <a:defRPr sz="1250" b="0">
                <a:solidFill>
                  <a:srgbClr val="23282D"/>
                </a:solidFill>
                <a:latin typeface="Aptos"/>
              </a:defRPr>
            </a:pPr>
            <a:r>
              <a:rPr dirty="0" err="1"/>
              <a:t>B.Tech</a:t>
            </a:r>
            <a:r>
              <a:rPr dirty="0"/>
              <a:t> CSE  |  Semester:</a:t>
            </a:r>
            <a:r>
              <a:rPr lang="en-IN" dirty="0"/>
              <a:t> 3rd</a:t>
            </a:r>
            <a:endParaRPr dirty="0"/>
          </a:p>
        </p:txBody>
      </p:sp>
      <p:sp>
        <p:nvSpPr>
          <p:cNvPr id="14" name="TextBox 13"/>
          <p:cNvSpPr txBox="1"/>
          <p:nvPr/>
        </p:nvSpPr>
        <p:spPr>
          <a:xfrm>
            <a:off x="2926080" y="4197096"/>
            <a:ext cx="2011680" cy="256032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r">
              <a:defRPr sz="1050" b="1">
                <a:solidFill>
                  <a:srgbClr val="66707A"/>
                </a:solidFill>
                <a:latin typeface="Aptos"/>
              </a:defRPr>
            </a:pPr>
            <a:r>
              <a:t>Batch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74920" y="4197096"/>
            <a:ext cx="4297680" cy="27432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>
              <a:defRPr sz="1250" b="0">
                <a:solidFill>
                  <a:srgbClr val="23282D"/>
                </a:solidFill>
                <a:latin typeface="Aptos"/>
              </a:defRPr>
            </a:pPr>
            <a:r>
              <a:t>2025 – 2029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26080" y="4590288"/>
            <a:ext cx="2011680" cy="256032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r">
              <a:defRPr sz="1050" b="1">
                <a:solidFill>
                  <a:srgbClr val="66707A"/>
                </a:solidFill>
                <a:latin typeface="Aptos"/>
              </a:defRPr>
            </a:pPr>
            <a:r>
              <a:t>Organization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74920" y="4590288"/>
            <a:ext cx="4297680" cy="27432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>
              <a:defRPr sz="1250" b="0">
                <a:solidFill>
                  <a:srgbClr val="23282D"/>
                </a:solidFill>
                <a:latin typeface="Aptos"/>
              </a:defRPr>
            </a:pPr>
            <a:r>
              <a:t>Prodigy InfoTech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26080" y="4983479"/>
            <a:ext cx="2011680" cy="256032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r">
              <a:defRPr sz="1050" b="1">
                <a:solidFill>
                  <a:srgbClr val="66707A"/>
                </a:solidFill>
                <a:latin typeface="Aptos"/>
              </a:defRPr>
            </a:pPr>
            <a:r>
              <a:t>Internship Period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74920" y="4983479"/>
            <a:ext cx="4297680" cy="27432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>
              <a:defRPr sz="1250" b="0">
                <a:solidFill>
                  <a:srgbClr val="23282D"/>
                </a:solidFill>
                <a:latin typeface="Aptos"/>
              </a:defRPr>
            </a:pPr>
            <a:r>
              <a:t>15 August 2026 – 15 September 2026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5989320"/>
            <a:ext cx="10332720" cy="27432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>
              <a:defRPr sz="1200" b="1">
                <a:solidFill>
                  <a:srgbClr val="18365C"/>
                </a:solidFill>
                <a:latin typeface="Aptos"/>
              </a:defRPr>
            </a:pPr>
            <a:r>
              <a:t>School of Computer Science and Engineering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6272784"/>
            <a:ext cx="10332720" cy="22860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>
              <a:defRPr sz="1050" b="0">
                <a:solidFill>
                  <a:srgbClr val="66707A"/>
                </a:solidFill>
                <a:latin typeface="Aptos"/>
              </a:defRPr>
            </a:pPr>
            <a:r>
              <a:t>IILM University, Greater Noida, U.P.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F67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94360" y="274320"/>
            <a:ext cx="108813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8365C"/>
                </a:solidFill>
                <a:latin typeface="Aptos Display"/>
              </a:defRPr>
            </a:pPr>
            <a:r>
              <a:t>Internship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60120"/>
            <a:ext cx="10789920" cy="64008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>
              <a:defRPr sz="1800" b="0">
                <a:solidFill>
                  <a:srgbClr val="23282D"/>
                </a:solidFill>
                <a:latin typeface="Aptos"/>
              </a:defRPr>
            </a:pPr>
            <a:r>
              <a:t>A practical full-stack web development internship focused on building and understanding web application workflows.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965960"/>
            <a:ext cx="2423160" cy="411480"/>
          </a:xfrm>
          <a:prstGeom prst="roundRect">
            <a:avLst/>
          </a:prstGeom>
          <a:solidFill>
            <a:srgbClr val="EBF2FA"/>
          </a:solidFill>
          <a:ln>
            <a:solidFill>
              <a:srgbClr val="EBF2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50" b="1">
                <a:solidFill>
                  <a:srgbClr val="18365C"/>
                </a:solidFill>
                <a:latin typeface="Aptos"/>
              </a:defRPr>
            </a:pPr>
            <a:r>
              <a:t>15 Aug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514600"/>
            <a:ext cx="2423160" cy="59436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>
              <a:defRPr sz="1300" b="1">
                <a:solidFill>
                  <a:srgbClr val="23282D"/>
                </a:solidFill>
                <a:latin typeface="Aptos"/>
              </a:defRPr>
            </a:pPr>
            <a:r>
              <a:t>Internship begins</a:t>
            </a:r>
          </a:p>
        </p:txBody>
      </p:sp>
      <p:sp>
        <p:nvSpPr>
          <p:cNvPr id="8" name="Right Arrow 7"/>
          <p:cNvSpPr/>
          <p:nvPr/>
        </p:nvSpPr>
        <p:spPr>
          <a:xfrm>
            <a:off x="3227832" y="2057400"/>
            <a:ext cx="502920" cy="228600"/>
          </a:xfrm>
          <a:prstGeom prst="rightArrow">
            <a:avLst/>
          </a:prstGeom>
          <a:solidFill>
            <a:srgbClr val="D6DC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3520439" y="1965960"/>
            <a:ext cx="2423160" cy="411480"/>
          </a:xfrm>
          <a:prstGeom prst="roundRect">
            <a:avLst/>
          </a:prstGeom>
          <a:solidFill>
            <a:srgbClr val="EBF2FA"/>
          </a:solidFill>
          <a:ln>
            <a:solidFill>
              <a:srgbClr val="EBF2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50" b="1">
                <a:solidFill>
                  <a:srgbClr val="18365C"/>
                </a:solidFill>
                <a:latin typeface="Aptos"/>
              </a:defRPr>
            </a:pPr>
            <a:r>
              <a:t>Task-based work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20439" y="2514600"/>
            <a:ext cx="2423160" cy="59436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>
              <a:defRPr sz="1300" b="1">
                <a:solidFill>
                  <a:srgbClr val="23282D"/>
                </a:solidFill>
                <a:latin typeface="Aptos"/>
              </a:defRPr>
            </a:pPr>
            <a:r>
              <a:t>Frontend + backend development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6016752" y="2057400"/>
            <a:ext cx="502920" cy="228600"/>
          </a:xfrm>
          <a:prstGeom prst="rightArrow">
            <a:avLst/>
          </a:prstGeom>
          <a:solidFill>
            <a:srgbClr val="D6DC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6309359" y="1965960"/>
            <a:ext cx="2423160" cy="411480"/>
          </a:xfrm>
          <a:prstGeom prst="roundRect">
            <a:avLst/>
          </a:prstGeom>
          <a:solidFill>
            <a:srgbClr val="EBF2FA"/>
          </a:solidFill>
          <a:ln>
            <a:solidFill>
              <a:srgbClr val="EBF2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50" b="1">
                <a:solidFill>
                  <a:srgbClr val="18365C"/>
                </a:solidFill>
                <a:latin typeface="Aptos"/>
              </a:defRPr>
            </a:pPr>
            <a:r>
              <a:t>Testing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09359" y="2514600"/>
            <a:ext cx="2423160" cy="59436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>
              <a:defRPr sz="1300" b="1">
                <a:solidFill>
                  <a:srgbClr val="23282D"/>
                </a:solidFill>
                <a:latin typeface="Aptos"/>
              </a:defRPr>
            </a:pPr>
            <a:r>
              <a:t>Browser, API and database validation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8805672" y="2057400"/>
            <a:ext cx="502920" cy="228600"/>
          </a:xfrm>
          <a:prstGeom prst="rightArrow">
            <a:avLst/>
          </a:prstGeom>
          <a:solidFill>
            <a:srgbClr val="D6DC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9098280" y="1965960"/>
            <a:ext cx="2423160" cy="411480"/>
          </a:xfrm>
          <a:prstGeom prst="roundRect">
            <a:avLst/>
          </a:prstGeom>
          <a:solidFill>
            <a:srgbClr val="EBF2FA"/>
          </a:solidFill>
          <a:ln>
            <a:solidFill>
              <a:srgbClr val="EBF2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50" b="1">
                <a:solidFill>
                  <a:srgbClr val="18365C"/>
                </a:solidFill>
                <a:latin typeface="Aptos"/>
              </a:defRPr>
            </a:pPr>
            <a:r>
              <a:t>15 Sep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98280" y="2514600"/>
            <a:ext cx="2423160" cy="59436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>
              <a:defRPr sz="1300" b="1">
                <a:solidFill>
                  <a:srgbClr val="23282D"/>
                </a:solidFill>
                <a:latin typeface="Aptos"/>
              </a:defRPr>
            </a:pPr>
            <a:r>
              <a:t>Internship completion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3429000"/>
            <a:ext cx="1828800" cy="32004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>
              <a:defRPr sz="1500" b="1">
                <a:solidFill>
                  <a:srgbClr val="18365C"/>
                </a:solidFill>
                <a:latin typeface="Aptos"/>
              </a:defRPr>
            </a:pPr>
            <a:r>
              <a:t>Task track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3840480"/>
            <a:ext cx="5486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500">
                <a:solidFill>
                  <a:srgbClr val="23282D"/>
                </a:solidFill>
                <a:latin typeface="Aptos"/>
              </a:defRPr>
            </a:pPr>
            <a:r>
              <a:t>•  01  Secure User Authentication</a:t>
            </a:r>
          </a:p>
          <a:p>
            <a:pPr>
              <a:spcAft>
                <a:spcPts val="700"/>
              </a:spcAft>
              <a:defRPr sz="1500">
                <a:solidFill>
                  <a:srgbClr val="23282D"/>
                </a:solidFill>
                <a:latin typeface="Aptos"/>
              </a:defRPr>
            </a:pPr>
            <a:r>
              <a:t>•  02  Employee Management System</a:t>
            </a:r>
          </a:p>
          <a:p>
            <a:pPr>
              <a:spcAft>
                <a:spcPts val="700"/>
              </a:spcAft>
              <a:defRPr sz="1500">
                <a:solidFill>
                  <a:srgbClr val="23282D"/>
                </a:solidFill>
                <a:latin typeface="Aptos"/>
              </a:defRPr>
            </a:pPr>
            <a:r>
              <a:t>•  03  Local Store E-commerce Platform</a:t>
            </a:r>
          </a:p>
          <a:p>
            <a:pPr>
              <a:spcAft>
                <a:spcPts val="700"/>
              </a:spcAft>
              <a:defRPr sz="1500">
                <a:solidFill>
                  <a:srgbClr val="23282D"/>
                </a:solidFill>
                <a:latin typeface="Aptos"/>
              </a:defRPr>
            </a:pPr>
            <a:r>
              <a:t>•  04  Real-Time Chat Application</a:t>
            </a:r>
          </a:p>
          <a:p>
            <a:pPr>
              <a:spcAft>
                <a:spcPts val="700"/>
              </a:spcAft>
              <a:defRPr sz="1500">
                <a:solidFill>
                  <a:srgbClr val="23282D"/>
                </a:solidFill>
                <a:latin typeface="Aptos"/>
              </a:defRPr>
            </a:pPr>
            <a:r>
              <a:t>•  05  Social Media Platform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29400" y="3429000"/>
            <a:ext cx="2286000" cy="32004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>
              <a:defRPr sz="1500" b="1">
                <a:solidFill>
                  <a:srgbClr val="18365C"/>
                </a:solidFill>
                <a:latin typeface="Aptos"/>
              </a:defRPr>
            </a:pPr>
            <a:r>
              <a:t>Internship focus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20840" y="3840480"/>
            <a:ext cx="45720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500">
                <a:solidFill>
                  <a:srgbClr val="23282D"/>
                </a:solidFill>
                <a:latin typeface="Aptos"/>
              </a:defRPr>
            </a:pPr>
            <a:r>
              <a:t>•  User-facing web interfaces</a:t>
            </a:r>
          </a:p>
          <a:p>
            <a:pPr>
              <a:spcAft>
                <a:spcPts val="700"/>
              </a:spcAft>
              <a:defRPr sz="1500">
                <a:solidFill>
                  <a:srgbClr val="23282D"/>
                </a:solidFill>
                <a:latin typeface="Aptos"/>
              </a:defRPr>
            </a:pPr>
            <a:r>
              <a:t>•  Server-side APIs and application logic</a:t>
            </a:r>
          </a:p>
          <a:p>
            <a:pPr>
              <a:spcAft>
                <a:spcPts val="700"/>
              </a:spcAft>
              <a:defRPr sz="1500">
                <a:solidFill>
                  <a:srgbClr val="23282D"/>
                </a:solidFill>
                <a:latin typeface="Aptos"/>
              </a:defRPr>
            </a:pPr>
            <a:r>
              <a:t>•  Authentication, validation and secure handling</a:t>
            </a:r>
          </a:p>
          <a:p>
            <a:pPr>
              <a:spcAft>
                <a:spcPts val="700"/>
              </a:spcAft>
              <a:defRPr sz="1500">
                <a:solidFill>
                  <a:srgbClr val="23282D"/>
                </a:solidFill>
                <a:latin typeface="Aptos"/>
              </a:defRPr>
            </a:pPr>
            <a:r>
              <a:t>•  MongoDB-backed data storage</a:t>
            </a:r>
          </a:p>
          <a:p>
            <a:pPr>
              <a:spcAft>
                <a:spcPts val="700"/>
              </a:spcAft>
              <a:defRPr sz="1500">
                <a:solidFill>
                  <a:srgbClr val="23282D"/>
                </a:solidFill>
                <a:latin typeface="Aptos"/>
              </a:defRPr>
            </a:pPr>
            <a:r>
              <a:t>•  Testing, debugging and documentation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94360" y="6510528"/>
            <a:ext cx="10972800" cy="10972"/>
          </a:xfrm>
          <a:prstGeom prst="rect">
            <a:avLst/>
          </a:prstGeom>
          <a:solidFill>
            <a:srgbClr val="D6DC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594360" y="6556248"/>
            <a:ext cx="73152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66707A"/>
                </a:solidFill>
                <a:latin typeface="Aptos"/>
              </a:defRPr>
            </a:pPr>
            <a:r>
              <a:t>Anand Raj  |  Web Development Internship  |  Prodigy InfoTech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789920" y="6528816"/>
            <a:ext cx="7315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6707A"/>
                </a:solidFill>
                <a:latin typeface="Aptos"/>
              </a:defRPr>
            </a:pPr>
            <a: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F67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94360" y="274320"/>
            <a:ext cx="108813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8365C"/>
                </a:solidFill>
                <a:latin typeface="Aptos Display"/>
              </a:defRPr>
            </a:pPr>
            <a:r>
              <a:t>Objectives &amp; Scope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143000"/>
            <a:ext cx="5212080" cy="4846320"/>
          </a:xfrm>
          <a:prstGeom prst="rect">
            <a:avLst/>
          </a:prstGeom>
          <a:solidFill>
            <a:srgbClr val="EBF2FA"/>
          </a:solidFill>
          <a:ln>
            <a:solidFill>
              <a:srgbClr val="D6DC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05840" y="1417320"/>
            <a:ext cx="4389120" cy="36576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>
              <a:defRPr sz="2000" b="1">
                <a:solidFill>
                  <a:srgbClr val="18365C"/>
                </a:solidFill>
                <a:latin typeface="Aptos"/>
              </a:defRPr>
            </a:pPr>
            <a:r>
              <a:t>Objectives</a:t>
            </a:r>
          </a:p>
        </p:txBody>
      </p:sp>
      <p:sp>
        <p:nvSpPr>
          <p:cNvPr id="7" name="Rectangle 6"/>
          <p:cNvSpPr/>
          <p:nvPr/>
        </p:nvSpPr>
        <p:spPr>
          <a:xfrm>
            <a:off x="6263640" y="1143000"/>
            <a:ext cx="5212080" cy="4846320"/>
          </a:xfrm>
          <a:prstGeom prst="rect">
            <a:avLst/>
          </a:prstGeom>
          <a:solidFill>
            <a:srgbClr val="F5F7F9"/>
          </a:solidFill>
          <a:ln>
            <a:solidFill>
              <a:srgbClr val="D6DC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583679" y="1417320"/>
            <a:ext cx="4389120" cy="36576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>
              <a:defRPr sz="2000" b="1">
                <a:solidFill>
                  <a:srgbClr val="18365C"/>
                </a:solidFill>
                <a:latin typeface="Aptos"/>
              </a:defRPr>
            </a:pPr>
            <a:r>
              <a:t>Scope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1965960"/>
            <a:ext cx="45720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420">
                <a:solidFill>
                  <a:srgbClr val="23282D"/>
                </a:solidFill>
                <a:latin typeface="Aptos"/>
              </a:defRPr>
            </a:pPr>
            <a:r>
              <a:t>•  Gain practical experience in full-stack web development.</a:t>
            </a:r>
          </a:p>
          <a:p>
            <a:pPr>
              <a:spcAft>
                <a:spcPts val="700"/>
              </a:spcAft>
              <a:defRPr sz="1420">
                <a:solidFill>
                  <a:srgbClr val="23282D"/>
                </a:solidFill>
                <a:latin typeface="Aptos"/>
              </a:defRPr>
            </a:pPr>
            <a:r>
              <a:t>•  Strengthen HTML, CSS and JavaScript skills.</a:t>
            </a:r>
          </a:p>
          <a:p>
            <a:pPr>
              <a:spcAft>
                <a:spcPts val="700"/>
              </a:spcAft>
              <a:defRPr sz="1420">
                <a:solidFill>
                  <a:srgbClr val="23282D"/>
                </a:solidFill>
                <a:latin typeface="Aptos"/>
              </a:defRPr>
            </a:pPr>
            <a:r>
              <a:t>•  Understand Node.js and Express.js server-side development.</a:t>
            </a:r>
          </a:p>
          <a:p>
            <a:pPr>
              <a:spcAft>
                <a:spcPts val="700"/>
              </a:spcAft>
              <a:defRPr sz="1420">
                <a:solidFill>
                  <a:srgbClr val="23282D"/>
                </a:solidFill>
                <a:latin typeface="Aptos"/>
              </a:defRPr>
            </a:pPr>
            <a:r>
              <a:t>•  Implement secure registration, login and protected routes.</a:t>
            </a:r>
          </a:p>
          <a:p>
            <a:pPr>
              <a:spcAft>
                <a:spcPts val="700"/>
              </a:spcAft>
              <a:defRPr sz="1420">
                <a:solidFill>
                  <a:srgbClr val="23282D"/>
                </a:solidFill>
                <a:latin typeface="Aptos"/>
              </a:defRPr>
            </a:pPr>
            <a:r>
              <a:t>•  Use password hashing and token-based authentication.</a:t>
            </a:r>
          </a:p>
          <a:p>
            <a:pPr>
              <a:spcAft>
                <a:spcPts val="700"/>
              </a:spcAft>
              <a:defRPr sz="1420">
                <a:solidFill>
                  <a:srgbClr val="23282D"/>
                </a:solidFill>
                <a:latin typeface="Aptos"/>
              </a:defRPr>
            </a:pPr>
            <a:r>
              <a:t>•  Connect applications with MongoDB for persistent data.</a:t>
            </a:r>
          </a:p>
          <a:p>
            <a:pPr>
              <a:spcAft>
                <a:spcPts val="700"/>
              </a:spcAft>
              <a:defRPr sz="1420">
                <a:solidFill>
                  <a:srgbClr val="23282D"/>
                </a:solidFill>
                <a:latin typeface="Aptos"/>
              </a:defRPr>
            </a:pPr>
            <a:r>
              <a:t>•  Improve debugging, testing and problem-solving skills.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37960" y="1965960"/>
            <a:ext cx="44805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420">
                <a:solidFill>
                  <a:srgbClr val="23282D"/>
                </a:solidFill>
                <a:latin typeface="Aptos"/>
              </a:defRPr>
            </a:pPr>
            <a:r>
              <a:t>•  Authentication and protected resource access</a:t>
            </a:r>
          </a:p>
          <a:p>
            <a:pPr>
              <a:spcAft>
                <a:spcPts val="700"/>
              </a:spcAft>
              <a:defRPr sz="1420">
                <a:solidFill>
                  <a:srgbClr val="23282D"/>
                </a:solidFill>
                <a:latin typeface="Aptos"/>
              </a:defRPr>
            </a:pPr>
            <a:r>
              <a:t>•  Employee record CRUD workflows</a:t>
            </a:r>
          </a:p>
          <a:p>
            <a:pPr>
              <a:spcAft>
                <a:spcPts val="700"/>
              </a:spcAft>
              <a:defRPr sz="1420">
                <a:solidFill>
                  <a:srgbClr val="23282D"/>
                </a:solidFill>
                <a:latin typeface="Aptos"/>
              </a:defRPr>
            </a:pPr>
            <a:r>
              <a:t>•  E-commerce catalogue and shopping flow</a:t>
            </a:r>
          </a:p>
          <a:p>
            <a:pPr>
              <a:spcAft>
                <a:spcPts val="700"/>
              </a:spcAft>
              <a:defRPr sz="1420">
                <a:solidFill>
                  <a:srgbClr val="23282D"/>
                </a:solidFill>
                <a:latin typeface="Aptos"/>
              </a:defRPr>
            </a:pPr>
            <a:r>
              <a:t>•  Real-time communication concepts</a:t>
            </a:r>
          </a:p>
          <a:p>
            <a:pPr>
              <a:spcAft>
                <a:spcPts val="700"/>
              </a:spcAft>
              <a:defRPr sz="1420">
                <a:solidFill>
                  <a:srgbClr val="23282D"/>
                </a:solidFill>
                <a:latin typeface="Aptos"/>
              </a:defRPr>
            </a:pPr>
            <a:r>
              <a:t>•  Social media interaction concepts</a:t>
            </a:r>
          </a:p>
          <a:p>
            <a:pPr>
              <a:spcAft>
                <a:spcPts val="700"/>
              </a:spcAft>
              <a:defRPr sz="1420">
                <a:solidFill>
                  <a:srgbClr val="23282D"/>
                </a:solidFill>
                <a:latin typeface="Aptos"/>
              </a:defRPr>
            </a:pPr>
            <a:r>
              <a:t>•  Responsive and user-friendly interfaces</a:t>
            </a:r>
          </a:p>
          <a:p>
            <a:pPr>
              <a:spcAft>
                <a:spcPts val="700"/>
              </a:spcAft>
              <a:defRPr sz="1420">
                <a:solidFill>
                  <a:srgbClr val="23282D"/>
                </a:solidFill>
                <a:latin typeface="Aptos"/>
              </a:defRPr>
            </a:pPr>
            <a:r>
              <a:t>•  Documentation using screenshots and structured reporting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94360" y="6510528"/>
            <a:ext cx="10972800" cy="10972"/>
          </a:xfrm>
          <a:prstGeom prst="rect">
            <a:avLst/>
          </a:prstGeom>
          <a:solidFill>
            <a:srgbClr val="D6DC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94360" y="6556248"/>
            <a:ext cx="73152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66707A"/>
                </a:solidFill>
                <a:latin typeface="Aptos"/>
              </a:defRPr>
            </a:pPr>
            <a:r>
              <a:t>Anand Raj  |  Web Development Internship  |  Prodigy InfoTech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89920" y="6528816"/>
            <a:ext cx="7315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6707A"/>
                </a:solidFill>
                <a:latin typeface="Aptos"/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F67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94360" y="274320"/>
            <a:ext cx="108813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8365C"/>
                </a:solidFill>
                <a:latin typeface="Aptos Display"/>
              </a:defRPr>
            </a:pPr>
            <a:r>
              <a:t>Technologies &amp; Tools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34440"/>
            <a:ext cx="2880360" cy="822960"/>
          </a:xfrm>
          <a:prstGeom prst="rect">
            <a:avLst/>
          </a:prstGeom>
          <a:solidFill>
            <a:srgbClr val="FFFFFF"/>
          </a:solidFill>
          <a:ln>
            <a:solidFill>
              <a:srgbClr val="D6DC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96112" y="1362456"/>
            <a:ext cx="2560320" cy="22860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>
              <a:defRPr sz="1400" b="1">
                <a:solidFill>
                  <a:srgbClr val="18365C"/>
                </a:solidFill>
                <a:latin typeface="Aptos"/>
              </a:defRPr>
            </a:pPr>
            <a:r>
              <a:t>HTML5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6112" y="1655064"/>
            <a:ext cx="2560320" cy="27432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>
              <a:defRPr sz="980" b="0">
                <a:solidFill>
                  <a:srgbClr val="66707A"/>
                </a:solidFill>
                <a:latin typeface="Aptos"/>
              </a:defRPr>
            </a:pPr>
            <a:r>
              <a:t>Page structure, forms and content</a:t>
            </a:r>
          </a:p>
        </p:txBody>
      </p:sp>
      <p:sp>
        <p:nvSpPr>
          <p:cNvPr id="8" name="Rectangle 7"/>
          <p:cNvSpPr/>
          <p:nvPr/>
        </p:nvSpPr>
        <p:spPr>
          <a:xfrm>
            <a:off x="4069080" y="1234440"/>
            <a:ext cx="2880360" cy="822960"/>
          </a:xfrm>
          <a:prstGeom prst="rect">
            <a:avLst/>
          </a:prstGeom>
          <a:solidFill>
            <a:srgbClr val="FFFFFF"/>
          </a:solidFill>
          <a:ln>
            <a:solidFill>
              <a:srgbClr val="D6DC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233672" y="1362456"/>
            <a:ext cx="2560320" cy="22860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>
              <a:defRPr sz="1400" b="1">
                <a:solidFill>
                  <a:srgbClr val="18365C"/>
                </a:solidFill>
                <a:latin typeface="Aptos"/>
              </a:defRPr>
            </a:pPr>
            <a:r>
              <a:t>CSS3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33672" y="1655064"/>
            <a:ext cx="2560320" cy="27432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>
              <a:defRPr sz="980" b="0">
                <a:solidFill>
                  <a:srgbClr val="66707A"/>
                </a:solidFill>
                <a:latin typeface="Aptos"/>
              </a:defRPr>
            </a:pPr>
            <a:r>
              <a:t>Layout, styling and responsive presentation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06640" y="1234440"/>
            <a:ext cx="2880360" cy="822960"/>
          </a:xfrm>
          <a:prstGeom prst="rect">
            <a:avLst/>
          </a:prstGeom>
          <a:solidFill>
            <a:srgbClr val="FFFFFF"/>
          </a:solidFill>
          <a:ln>
            <a:solidFill>
              <a:srgbClr val="D6DC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571231" y="1362456"/>
            <a:ext cx="2560320" cy="22860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>
              <a:defRPr sz="1400" b="1">
                <a:solidFill>
                  <a:srgbClr val="18365C"/>
                </a:solidFill>
                <a:latin typeface="Aptos"/>
              </a:defRPr>
            </a:pPr>
            <a:r>
              <a:t>JavaScript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571231" y="1655064"/>
            <a:ext cx="2560320" cy="27432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>
              <a:defRPr sz="980" b="0">
                <a:solidFill>
                  <a:srgbClr val="66707A"/>
                </a:solidFill>
                <a:latin typeface="Aptos"/>
              </a:defRPr>
            </a:pPr>
            <a:r>
              <a:t>Client-side interaction and logic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520" y="2331720"/>
            <a:ext cx="2880360" cy="822960"/>
          </a:xfrm>
          <a:prstGeom prst="rect">
            <a:avLst/>
          </a:prstGeom>
          <a:solidFill>
            <a:srgbClr val="FFFFFF"/>
          </a:solidFill>
          <a:ln>
            <a:solidFill>
              <a:srgbClr val="D6DC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96112" y="2459736"/>
            <a:ext cx="2560320" cy="22860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>
              <a:defRPr sz="1400" b="1">
                <a:solidFill>
                  <a:srgbClr val="18365C"/>
                </a:solidFill>
                <a:latin typeface="Aptos"/>
              </a:defRPr>
            </a:pPr>
            <a:r>
              <a:t>Node.js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6112" y="2752344"/>
            <a:ext cx="2560320" cy="27432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>
              <a:defRPr sz="980" b="0">
                <a:solidFill>
                  <a:srgbClr val="66707A"/>
                </a:solidFill>
                <a:latin typeface="Aptos"/>
              </a:defRPr>
            </a:pPr>
            <a:r>
              <a:t>Server-side JavaScript runtime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069080" y="2331720"/>
            <a:ext cx="2880360" cy="822960"/>
          </a:xfrm>
          <a:prstGeom prst="rect">
            <a:avLst/>
          </a:prstGeom>
          <a:solidFill>
            <a:srgbClr val="FFFFFF"/>
          </a:solidFill>
          <a:ln>
            <a:solidFill>
              <a:srgbClr val="D6DC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233672" y="2459736"/>
            <a:ext cx="2560320" cy="22860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>
              <a:defRPr sz="1400" b="1">
                <a:solidFill>
                  <a:srgbClr val="18365C"/>
                </a:solidFill>
                <a:latin typeface="Aptos"/>
              </a:defRPr>
            </a:pPr>
            <a:r>
              <a:t>Express.js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33672" y="2752344"/>
            <a:ext cx="2560320" cy="27432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>
              <a:defRPr sz="980" b="0">
                <a:solidFill>
                  <a:srgbClr val="66707A"/>
                </a:solidFill>
                <a:latin typeface="Aptos"/>
              </a:defRPr>
            </a:pPr>
            <a:r>
              <a:t>Backend server and API routes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406640" y="2331720"/>
            <a:ext cx="2880360" cy="822960"/>
          </a:xfrm>
          <a:prstGeom prst="rect">
            <a:avLst/>
          </a:prstGeom>
          <a:solidFill>
            <a:srgbClr val="FFFFFF"/>
          </a:solidFill>
          <a:ln>
            <a:solidFill>
              <a:srgbClr val="D6DC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571231" y="2459736"/>
            <a:ext cx="2560320" cy="22860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>
              <a:defRPr sz="1400" b="1">
                <a:solidFill>
                  <a:srgbClr val="18365C"/>
                </a:solidFill>
                <a:latin typeface="Aptos"/>
              </a:defRPr>
            </a:pPr>
            <a:r>
              <a:t>MongoDB / Mongoose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71231" y="2752344"/>
            <a:ext cx="2560320" cy="27432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>
              <a:defRPr sz="980" b="0">
                <a:solidFill>
                  <a:srgbClr val="66707A"/>
                </a:solidFill>
                <a:latin typeface="Aptos"/>
              </a:defRPr>
            </a:pPr>
            <a:r>
              <a:t>Persistent data and database operations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31520" y="3429000"/>
            <a:ext cx="2880360" cy="822960"/>
          </a:xfrm>
          <a:prstGeom prst="rect">
            <a:avLst/>
          </a:prstGeom>
          <a:solidFill>
            <a:srgbClr val="FFFFFF"/>
          </a:solidFill>
          <a:ln>
            <a:solidFill>
              <a:srgbClr val="D6DC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96112" y="3557016"/>
            <a:ext cx="2560320" cy="22860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>
              <a:defRPr sz="1400" b="1">
                <a:solidFill>
                  <a:srgbClr val="18365C"/>
                </a:solidFill>
                <a:latin typeface="Aptos"/>
              </a:defRPr>
            </a:pPr>
            <a:r>
              <a:t>bcrypt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6112" y="3849624"/>
            <a:ext cx="2560320" cy="27432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>
              <a:defRPr sz="980" b="0">
                <a:solidFill>
                  <a:srgbClr val="66707A"/>
                </a:solidFill>
                <a:latin typeface="Aptos"/>
              </a:defRPr>
            </a:pPr>
            <a:r>
              <a:t>Password hashing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069080" y="3429000"/>
            <a:ext cx="2880360" cy="822960"/>
          </a:xfrm>
          <a:prstGeom prst="rect">
            <a:avLst/>
          </a:prstGeom>
          <a:solidFill>
            <a:srgbClr val="FFFFFF"/>
          </a:solidFill>
          <a:ln>
            <a:solidFill>
              <a:srgbClr val="D6DC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4233672" y="3557016"/>
            <a:ext cx="2560320" cy="22860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>
              <a:defRPr sz="1400" b="1">
                <a:solidFill>
                  <a:srgbClr val="18365C"/>
                </a:solidFill>
                <a:latin typeface="Aptos"/>
              </a:defRPr>
            </a:pPr>
            <a:r>
              <a:t>JWT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233672" y="3849624"/>
            <a:ext cx="2560320" cy="27432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>
              <a:defRPr sz="980" b="0">
                <a:solidFill>
                  <a:srgbClr val="66707A"/>
                </a:solidFill>
                <a:latin typeface="Aptos"/>
              </a:defRPr>
            </a:pPr>
            <a:r>
              <a:t>Token-based authentication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06640" y="3429000"/>
            <a:ext cx="2880360" cy="822960"/>
          </a:xfrm>
          <a:prstGeom prst="rect">
            <a:avLst/>
          </a:prstGeom>
          <a:solidFill>
            <a:srgbClr val="FFFFFF"/>
          </a:solidFill>
          <a:ln>
            <a:solidFill>
              <a:srgbClr val="D6DC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7571231" y="3557016"/>
            <a:ext cx="2560320" cy="22860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>
              <a:defRPr sz="1400" b="1">
                <a:solidFill>
                  <a:srgbClr val="18365C"/>
                </a:solidFill>
                <a:latin typeface="Aptos"/>
              </a:defRPr>
            </a:pPr>
            <a:r>
              <a:t>VS Code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571231" y="3849624"/>
            <a:ext cx="2560320" cy="27432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>
              <a:defRPr sz="980" b="0">
                <a:solidFill>
                  <a:srgbClr val="66707A"/>
                </a:solidFill>
                <a:latin typeface="Aptos"/>
              </a:defRPr>
            </a:pPr>
            <a:r>
              <a:t>Development environment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069080" y="4526280"/>
            <a:ext cx="2880360" cy="822960"/>
          </a:xfrm>
          <a:prstGeom prst="rect">
            <a:avLst/>
          </a:prstGeom>
          <a:solidFill>
            <a:srgbClr val="FFFFFF"/>
          </a:solidFill>
          <a:ln>
            <a:solidFill>
              <a:srgbClr val="D6DC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4233672" y="4654296"/>
            <a:ext cx="2560320" cy="22860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>
              <a:defRPr sz="1400" b="1">
                <a:solidFill>
                  <a:srgbClr val="18365C"/>
                </a:solidFill>
                <a:latin typeface="Aptos"/>
              </a:defRPr>
            </a:pPr>
            <a:r>
              <a:t>Git / GitHub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233672" y="4946904"/>
            <a:ext cx="2560320" cy="27432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>
              <a:defRPr sz="980" b="0">
                <a:solidFill>
                  <a:srgbClr val="66707A"/>
                </a:solidFill>
                <a:latin typeface="Aptos"/>
              </a:defRPr>
            </a:pPr>
            <a:r>
              <a:t>Version control and submission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7240" y="5623560"/>
            <a:ext cx="10607040" cy="41148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>
              <a:defRPr sz="1250" b="0">
                <a:solidFill>
                  <a:srgbClr val="66707A"/>
                </a:solidFill>
                <a:latin typeface="Aptos"/>
              </a:defRPr>
            </a:pPr>
            <a:r>
              <a:t>Core implementation documented in the report: Secure User Authentication with Node.js, Express.js, MongoDB, bcrypt and JWT.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94360" y="6510528"/>
            <a:ext cx="10972800" cy="10972"/>
          </a:xfrm>
          <a:prstGeom prst="rect">
            <a:avLst/>
          </a:prstGeom>
          <a:solidFill>
            <a:srgbClr val="D6DC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594360" y="6556248"/>
            <a:ext cx="73152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66707A"/>
                </a:solidFill>
                <a:latin typeface="Aptos"/>
              </a:defRPr>
            </a:pPr>
            <a:r>
              <a:t>Anand Raj  |  Web Development Internship  |  Prodigy InfoTech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789920" y="6528816"/>
            <a:ext cx="7315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6707A"/>
                </a:solidFill>
                <a:latin typeface="Aptos"/>
              </a:defRPr>
            </a:pPr>
            <a: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F67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94360" y="274320"/>
            <a:ext cx="108813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8365C"/>
                </a:solidFill>
                <a:latin typeface="Aptos Display"/>
              </a:defRPr>
            </a:pPr>
            <a:r>
              <a:t>System Architecture – Secure Authentication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914400"/>
            <a:ext cx="10515600" cy="41148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>
              <a:defRPr sz="1700" b="0">
                <a:solidFill>
                  <a:srgbClr val="23282D"/>
                </a:solidFill>
                <a:latin typeface="Aptos"/>
              </a:defRPr>
            </a:pPr>
            <a:r>
              <a:t>Client–server flow used by the implemented authentication application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965960"/>
            <a:ext cx="2743200" cy="1143000"/>
          </a:xfrm>
          <a:prstGeom prst="rect">
            <a:avLst/>
          </a:prstGeom>
          <a:solidFill>
            <a:srgbClr val="EBF2FA"/>
          </a:solidFill>
          <a:ln>
            <a:solidFill>
              <a:srgbClr val="D6DC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96112" y="2148840"/>
            <a:ext cx="2423160" cy="27432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>
              <a:defRPr sz="1700" b="1">
                <a:solidFill>
                  <a:srgbClr val="18365C"/>
                </a:solidFill>
                <a:latin typeface="Aptos"/>
              </a:defRPr>
            </a:pPr>
            <a:r>
              <a:t>Browser / UI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6112" y="2514600"/>
            <a:ext cx="2423160" cy="32004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>
              <a:defRPr sz="1050" b="0">
                <a:solidFill>
                  <a:srgbClr val="66707A"/>
                </a:solidFill>
                <a:latin typeface="Aptos"/>
              </a:defRPr>
            </a:pPr>
            <a:r>
              <a:t>HTML • CSS • JavaScript</a:t>
            </a:r>
          </a:p>
        </p:txBody>
      </p:sp>
      <p:sp>
        <p:nvSpPr>
          <p:cNvPr id="9" name="Rectangle 8"/>
          <p:cNvSpPr/>
          <p:nvPr/>
        </p:nvSpPr>
        <p:spPr>
          <a:xfrm>
            <a:off x="4251960" y="1965960"/>
            <a:ext cx="2743200" cy="1143000"/>
          </a:xfrm>
          <a:prstGeom prst="rect">
            <a:avLst/>
          </a:prstGeom>
          <a:solidFill>
            <a:srgbClr val="FFFFFF"/>
          </a:solidFill>
          <a:ln>
            <a:solidFill>
              <a:srgbClr val="D6DC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416552" y="2148840"/>
            <a:ext cx="2423160" cy="27432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>
              <a:defRPr sz="1700" b="1">
                <a:solidFill>
                  <a:srgbClr val="18365C"/>
                </a:solidFill>
                <a:latin typeface="Aptos"/>
              </a:defRPr>
            </a:pPr>
            <a:r>
              <a:t>Node.js + Express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16552" y="2514600"/>
            <a:ext cx="2423160" cy="32004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>
              <a:defRPr sz="1050" b="0">
                <a:solidFill>
                  <a:srgbClr val="66707A"/>
                </a:solidFill>
                <a:latin typeface="Aptos"/>
              </a:defRPr>
            </a:pPr>
            <a:r>
              <a:t>API routes • validation • logic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0" y="1965960"/>
            <a:ext cx="2743200" cy="1143000"/>
          </a:xfrm>
          <a:prstGeom prst="rect">
            <a:avLst/>
          </a:prstGeom>
          <a:solidFill>
            <a:srgbClr val="EBF2FA"/>
          </a:solidFill>
          <a:ln>
            <a:solidFill>
              <a:srgbClr val="D6DC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936992" y="2148840"/>
            <a:ext cx="2423160" cy="27432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>
              <a:defRPr sz="1700" b="1">
                <a:solidFill>
                  <a:srgbClr val="18365C"/>
                </a:solidFill>
                <a:latin typeface="Aptos"/>
              </a:defRPr>
            </a:pPr>
            <a:r>
              <a:t>Security Layer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992" y="2514600"/>
            <a:ext cx="2423160" cy="32004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>
              <a:defRPr sz="1050" b="0">
                <a:solidFill>
                  <a:srgbClr val="66707A"/>
                </a:solidFill>
                <a:latin typeface="Aptos"/>
              </a:defRPr>
            </a:pPr>
            <a:r>
              <a:t>bcrypt • JWT • protected routes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251960" y="4160520"/>
            <a:ext cx="2743200" cy="1143000"/>
          </a:xfrm>
          <a:prstGeom prst="rect">
            <a:avLst/>
          </a:prstGeom>
          <a:solidFill>
            <a:srgbClr val="FFFFFF"/>
          </a:solidFill>
          <a:ln>
            <a:solidFill>
              <a:srgbClr val="D6DC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416552" y="4343400"/>
            <a:ext cx="2423160" cy="27432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>
              <a:defRPr sz="1700" b="1">
                <a:solidFill>
                  <a:srgbClr val="18365C"/>
                </a:solidFill>
                <a:latin typeface="Aptos"/>
              </a:defRPr>
            </a:pPr>
            <a:r>
              <a:t>MongoDB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16552" y="4709159"/>
            <a:ext cx="2423160" cy="32004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>
              <a:defRPr sz="1050" b="0">
                <a:solidFill>
                  <a:srgbClr val="66707A"/>
                </a:solidFill>
                <a:latin typeface="Aptos"/>
              </a:defRPr>
            </a:pPr>
            <a:r>
              <a:t>User records • persistence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3429000" y="2350008"/>
            <a:ext cx="640080" cy="274320"/>
          </a:xfrm>
          <a:prstGeom prst="rightArrow">
            <a:avLst/>
          </a:prstGeom>
          <a:solidFill>
            <a:srgbClr val="2F67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ight Arrow 18"/>
          <p:cNvSpPr/>
          <p:nvPr/>
        </p:nvSpPr>
        <p:spPr>
          <a:xfrm>
            <a:off x="6949440" y="2350008"/>
            <a:ext cx="640080" cy="274320"/>
          </a:xfrm>
          <a:prstGeom prst="rightArrow">
            <a:avLst/>
          </a:prstGeom>
          <a:solidFill>
            <a:srgbClr val="2F67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Down Arrow 19"/>
          <p:cNvSpPr/>
          <p:nvPr/>
        </p:nvSpPr>
        <p:spPr>
          <a:xfrm>
            <a:off x="5440680" y="3182112"/>
            <a:ext cx="274320" cy="685800"/>
          </a:xfrm>
          <a:prstGeom prst="downArrow">
            <a:avLst/>
          </a:prstGeom>
          <a:solidFill>
            <a:srgbClr val="2F67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1371600" y="5623560"/>
            <a:ext cx="9509760" cy="36576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>
              <a:defRPr sz="1300" b="0">
                <a:solidFill>
                  <a:srgbClr val="66707A"/>
                </a:solidFill>
                <a:latin typeface="Aptos"/>
              </a:defRPr>
            </a:pPr>
            <a:r>
              <a:t>Requests → validation → database/security checks → authenticated response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94360" y="6510528"/>
            <a:ext cx="10972800" cy="10972"/>
          </a:xfrm>
          <a:prstGeom prst="rect">
            <a:avLst/>
          </a:prstGeom>
          <a:solidFill>
            <a:srgbClr val="D6DC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594360" y="6556248"/>
            <a:ext cx="73152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66707A"/>
                </a:solidFill>
                <a:latin typeface="Aptos"/>
              </a:defRPr>
            </a:pPr>
            <a:r>
              <a:t>Anand Raj  |  Web Development Internship  |  Prodigy InfoTech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789920" y="6528816"/>
            <a:ext cx="7315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6707A"/>
                </a:solidFill>
                <a:latin typeface="Aptos"/>
              </a:defRPr>
            </a:pPr>
            <a: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685800" y="1691640"/>
            <a:ext cx="7543800" cy="4343400"/>
          </a:xfrm>
          <a:prstGeom prst="rect">
            <a:avLst/>
          </a:prstGeom>
          <a:noFill/>
          <a:ln w="12700">
            <a:solidFill>
              <a:srgbClr val="D6DC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F67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94360" y="274320"/>
            <a:ext cx="108813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8365C"/>
                </a:solidFill>
                <a:latin typeface="Aptos Display"/>
              </a:defRPr>
            </a:pPr>
            <a:r>
              <a:t>Task 1 – Secure User Authentication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914400"/>
            <a:ext cx="1554480" cy="27432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>
              <a:defRPr sz="1300" b="1">
                <a:solidFill>
                  <a:srgbClr val="2F67B2"/>
                </a:solidFill>
                <a:latin typeface="Aptos"/>
              </a:defRPr>
            </a:pPr>
            <a:r>
              <a:t>Task objective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74519" y="896112"/>
            <a:ext cx="9509760" cy="59436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>
              <a:defRPr sz="1450" b="0">
                <a:solidFill>
                  <a:srgbClr val="23282D"/>
                </a:solidFill>
                <a:latin typeface="Aptos"/>
              </a:defRPr>
            </a:pPr>
            <a:r>
              <a:t>Implement secure sign-up, login and protected-route access.</a:t>
            </a:r>
          </a:p>
        </p:txBody>
      </p:sp>
      <p:pic>
        <p:nvPicPr>
          <p:cNvPr id="7" name="Picture 6" descr="task1_outp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" y="1785961"/>
            <a:ext cx="7397495" cy="415475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549640" y="1783080"/>
            <a:ext cx="2926080" cy="32004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>
              <a:defRPr sz="1550" b="1">
                <a:solidFill>
                  <a:srgbClr val="18365C"/>
                </a:solidFill>
                <a:latin typeface="Aptos"/>
              </a:defRPr>
            </a:pPr>
            <a:r>
              <a:t>Key features demonstrated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49640" y="2240280"/>
            <a:ext cx="283464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30">
                <a:solidFill>
                  <a:srgbClr val="23282D"/>
                </a:solidFill>
                <a:latin typeface="Aptos"/>
              </a:defRPr>
            </a:pPr>
            <a:r>
              <a:t>•  Login and registration interface</a:t>
            </a:r>
          </a:p>
          <a:p>
            <a:pPr>
              <a:spcAft>
                <a:spcPts val="800"/>
              </a:spcAft>
              <a:defRPr sz="1330">
                <a:solidFill>
                  <a:srgbClr val="23282D"/>
                </a:solidFill>
                <a:latin typeface="Aptos"/>
              </a:defRPr>
            </a:pPr>
            <a:r>
              <a:t>•  Password hashing</a:t>
            </a:r>
          </a:p>
          <a:p>
            <a:pPr>
              <a:spcAft>
                <a:spcPts val="800"/>
              </a:spcAft>
              <a:defRPr sz="1330">
                <a:solidFill>
                  <a:srgbClr val="23282D"/>
                </a:solidFill>
                <a:latin typeface="Aptos"/>
              </a:defRPr>
            </a:pPr>
            <a:r>
              <a:t>•  JWT-based authentication</a:t>
            </a:r>
          </a:p>
          <a:p>
            <a:pPr>
              <a:spcAft>
                <a:spcPts val="800"/>
              </a:spcAft>
              <a:defRPr sz="1330">
                <a:solidFill>
                  <a:srgbClr val="23282D"/>
                </a:solidFill>
                <a:latin typeface="Aptos"/>
              </a:defRPr>
            </a:pPr>
            <a:r>
              <a:t>•  Protected route access</a:t>
            </a:r>
          </a:p>
          <a:p>
            <a:pPr>
              <a:spcAft>
                <a:spcPts val="800"/>
              </a:spcAft>
              <a:defRPr sz="1330">
                <a:solidFill>
                  <a:srgbClr val="23282D"/>
                </a:solidFill>
                <a:latin typeface="Aptos"/>
              </a:defRPr>
            </a:pPr>
            <a:r>
              <a:t>•  MongoDB-backed user records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49640" y="5257800"/>
            <a:ext cx="2788920" cy="64008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>
              <a:defRPr sz="919" b="0">
                <a:solidFill>
                  <a:srgbClr val="66707A"/>
                </a:solidFill>
                <a:latin typeface="Aptos"/>
              </a:defRPr>
            </a:pPr>
            <a:r>
              <a:t>Working output documented in the report.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94360" y="6510528"/>
            <a:ext cx="10972800" cy="10972"/>
          </a:xfrm>
          <a:prstGeom prst="rect">
            <a:avLst/>
          </a:prstGeom>
          <a:solidFill>
            <a:srgbClr val="D6DC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94360" y="6556248"/>
            <a:ext cx="73152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66707A"/>
                </a:solidFill>
                <a:latin typeface="Aptos"/>
              </a:defRPr>
            </a:pPr>
            <a:r>
              <a:t>Anand Raj  |  Web Development Internship  |  Prodigy InfoTech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0" y="6528816"/>
            <a:ext cx="7315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6707A"/>
                </a:solidFill>
                <a:latin typeface="Aptos"/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685800" y="1691640"/>
            <a:ext cx="7543800" cy="4343400"/>
          </a:xfrm>
          <a:prstGeom prst="rect">
            <a:avLst/>
          </a:prstGeom>
          <a:noFill/>
          <a:ln w="12700">
            <a:solidFill>
              <a:srgbClr val="D6DC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F67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94360" y="274320"/>
            <a:ext cx="108813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8365C"/>
                </a:solidFill>
                <a:latin typeface="Aptos Display"/>
              </a:defRPr>
            </a:pPr>
            <a:r>
              <a:t>Task 2 – Employee Management System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914400"/>
            <a:ext cx="1554480" cy="27432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>
              <a:defRPr sz="1300" b="1">
                <a:solidFill>
                  <a:srgbClr val="2F67B2"/>
                </a:solidFill>
                <a:latin typeface="Aptos"/>
              </a:defRPr>
            </a:pPr>
            <a:r>
              <a:t>Task objective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74519" y="896112"/>
            <a:ext cx="9509760" cy="59436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>
              <a:defRPr sz="1450" b="0">
                <a:solidFill>
                  <a:srgbClr val="23282D"/>
                </a:solidFill>
                <a:latin typeface="Aptos"/>
              </a:defRPr>
            </a:pPr>
            <a:r>
              <a:t>Enable administrators to perform CRUD operations on employee records with validation and authentication.</a:t>
            </a:r>
          </a:p>
        </p:txBody>
      </p:sp>
      <p:pic>
        <p:nvPicPr>
          <p:cNvPr id="7" name="Picture 6" descr="task2_outp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" y="1785961"/>
            <a:ext cx="7397495" cy="415475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549640" y="1783080"/>
            <a:ext cx="2926080" cy="32004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>
              <a:defRPr sz="1550" b="1">
                <a:solidFill>
                  <a:srgbClr val="18365C"/>
                </a:solidFill>
                <a:latin typeface="Aptos"/>
              </a:defRPr>
            </a:pPr>
            <a:r>
              <a:t>Key features demonstrated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49640" y="2240280"/>
            <a:ext cx="283464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30">
                <a:solidFill>
                  <a:srgbClr val="23282D"/>
                </a:solidFill>
                <a:latin typeface="Aptos"/>
              </a:defRPr>
            </a:pPr>
            <a:r>
              <a:t>•  Employee dashboard</a:t>
            </a:r>
          </a:p>
          <a:p>
            <a:pPr>
              <a:spcAft>
                <a:spcPts val="800"/>
              </a:spcAft>
              <a:defRPr sz="1330">
                <a:solidFill>
                  <a:srgbClr val="23282D"/>
                </a:solidFill>
                <a:latin typeface="Aptos"/>
              </a:defRPr>
            </a:pPr>
            <a:r>
              <a:t>•  Add / read / update / delete controls</a:t>
            </a:r>
          </a:p>
          <a:p>
            <a:pPr>
              <a:spcAft>
                <a:spcPts val="800"/>
              </a:spcAft>
              <a:defRPr sz="1330">
                <a:solidFill>
                  <a:srgbClr val="23282D"/>
                </a:solidFill>
                <a:latin typeface="Aptos"/>
              </a:defRPr>
            </a:pPr>
            <a:r>
              <a:t>•  Department and role information</a:t>
            </a:r>
          </a:p>
          <a:p>
            <a:pPr>
              <a:spcAft>
                <a:spcPts val="800"/>
              </a:spcAft>
              <a:defRPr sz="1330">
                <a:solidFill>
                  <a:srgbClr val="23282D"/>
                </a:solidFill>
                <a:latin typeface="Aptos"/>
              </a:defRPr>
            </a:pPr>
            <a:r>
              <a:t>•  Searchable employee records</a:t>
            </a:r>
          </a:p>
          <a:p>
            <a:pPr>
              <a:spcAft>
                <a:spcPts val="800"/>
              </a:spcAft>
              <a:defRPr sz="1330">
                <a:solidFill>
                  <a:srgbClr val="23282D"/>
                </a:solidFill>
                <a:latin typeface="Aptos"/>
              </a:defRPr>
            </a:pPr>
            <a:r>
              <a:t>•  Authenticated administrative interface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94360" y="6510528"/>
            <a:ext cx="10972800" cy="10972"/>
          </a:xfrm>
          <a:prstGeom prst="rect">
            <a:avLst/>
          </a:prstGeom>
          <a:solidFill>
            <a:srgbClr val="D6DC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94360" y="6556248"/>
            <a:ext cx="73152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66707A"/>
                </a:solidFill>
                <a:latin typeface="Aptos"/>
              </a:defRPr>
            </a:pPr>
            <a:r>
              <a:t>Anand Raj  |  Web Development Internship  |  Prodigy InfoTech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0" y="6528816"/>
            <a:ext cx="7315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6707A"/>
                </a:solidFill>
                <a:latin typeface="Aptos"/>
              </a:defRPr>
            </a:pPr>
            <a: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685800" y="1691640"/>
            <a:ext cx="7543800" cy="4343400"/>
          </a:xfrm>
          <a:prstGeom prst="rect">
            <a:avLst/>
          </a:prstGeom>
          <a:noFill/>
          <a:ln w="12700">
            <a:solidFill>
              <a:srgbClr val="D6DC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F67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94360" y="274320"/>
            <a:ext cx="108813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8365C"/>
                </a:solidFill>
                <a:latin typeface="Aptos Display"/>
              </a:defRPr>
            </a:pPr>
            <a:r>
              <a:t>Task 3 – Local Store E-commerce Platform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914400"/>
            <a:ext cx="1554480" cy="27432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>
              <a:defRPr sz="1300" b="1">
                <a:solidFill>
                  <a:srgbClr val="2F67B2"/>
                </a:solidFill>
                <a:latin typeface="Aptos"/>
              </a:defRPr>
            </a:pPr>
            <a:r>
              <a:t>Task objective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74519" y="896112"/>
            <a:ext cx="9509760" cy="59436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>
              <a:defRPr sz="1450" b="0">
                <a:solidFill>
                  <a:srgbClr val="23282D"/>
                </a:solidFill>
                <a:latin typeface="Aptos"/>
              </a:defRPr>
            </a:pPr>
            <a:r>
              <a:t>Enable customers to browse products and purchase through a practical shopping interface.</a:t>
            </a:r>
          </a:p>
        </p:txBody>
      </p:sp>
      <p:pic>
        <p:nvPicPr>
          <p:cNvPr id="7" name="Picture 6" descr="task3_outp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" y="1785961"/>
            <a:ext cx="7397495" cy="415475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549640" y="1783080"/>
            <a:ext cx="2926080" cy="32004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>
              <a:defRPr sz="1550" b="1">
                <a:solidFill>
                  <a:srgbClr val="18365C"/>
                </a:solidFill>
                <a:latin typeface="Aptos"/>
              </a:defRPr>
            </a:pPr>
            <a:r>
              <a:t>Key features demonstrated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49640" y="2240280"/>
            <a:ext cx="283464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30">
                <a:solidFill>
                  <a:srgbClr val="23282D"/>
                </a:solidFill>
                <a:latin typeface="Aptos"/>
              </a:defRPr>
            </a:pPr>
            <a:r>
              <a:t>•  Product catalogue</a:t>
            </a:r>
          </a:p>
          <a:p>
            <a:pPr>
              <a:spcAft>
                <a:spcPts val="800"/>
              </a:spcAft>
              <a:defRPr sz="1330">
                <a:solidFill>
                  <a:srgbClr val="23282D"/>
                </a:solidFill>
                <a:latin typeface="Aptos"/>
              </a:defRPr>
            </a:pPr>
            <a:r>
              <a:t>•  Product cards and prices</a:t>
            </a:r>
          </a:p>
          <a:p>
            <a:pPr>
              <a:spcAft>
                <a:spcPts val="800"/>
              </a:spcAft>
              <a:defRPr sz="1330">
                <a:solidFill>
                  <a:srgbClr val="23282D"/>
                </a:solidFill>
                <a:latin typeface="Aptos"/>
              </a:defRPr>
            </a:pPr>
            <a:r>
              <a:t>•  Shopping cart indicator</a:t>
            </a:r>
          </a:p>
          <a:p>
            <a:pPr>
              <a:spcAft>
                <a:spcPts val="800"/>
              </a:spcAft>
              <a:defRPr sz="1330">
                <a:solidFill>
                  <a:srgbClr val="23282D"/>
                </a:solidFill>
                <a:latin typeface="Aptos"/>
              </a:defRPr>
            </a:pPr>
            <a:r>
              <a:t>•  Category/navigation interface</a:t>
            </a:r>
          </a:p>
          <a:p>
            <a:pPr>
              <a:spcAft>
                <a:spcPts val="800"/>
              </a:spcAft>
              <a:defRPr sz="1330">
                <a:solidFill>
                  <a:srgbClr val="23282D"/>
                </a:solidFill>
                <a:latin typeface="Aptos"/>
              </a:defRPr>
            </a:pPr>
            <a:r>
              <a:t>•  Add-to-cart interaction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94360" y="6510528"/>
            <a:ext cx="10972800" cy="10972"/>
          </a:xfrm>
          <a:prstGeom prst="rect">
            <a:avLst/>
          </a:prstGeom>
          <a:solidFill>
            <a:srgbClr val="D6DC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94360" y="6556248"/>
            <a:ext cx="73152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66707A"/>
                </a:solidFill>
                <a:latin typeface="Aptos"/>
              </a:defRPr>
            </a:pPr>
            <a:r>
              <a:t>Anand Raj  |  Web Development Internship  |  Prodigy InfoTech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0" y="6528816"/>
            <a:ext cx="7315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6707A"/>
                </a:solidFill>
                <a:latin typeface="Aptos"/>
              </a:defRPr>
            </a:pPr>
            <a: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685800" y="1691640"/>
            <a:ext cx="7543800" cy="4343400"/>
          </a:xfrm>
          <a:prstGeom prst="rect">
            <a:avLst/>
          </a:prstGeom>
          <a:noFill/>
          <a:ln w="12700">
            <a:solidFill>
              <a:srgbClr val="D6DC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F67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94360" y="274320"/>
            <a:ext cx="108813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8365C"/>
                </a:solidFill>
                <a:latin typeface="Aptos Display"/>
              </a:defRPr>
            </a:pPr>
            <a:r>
              <a:t>Task 4 – Real-Time Chat Application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914400"/>
            <a:ext cx="1554480" cy="27432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>
              <a:defRPr sz="1300" b="1">
                <a:solidFill>
                  <a:srgbClr val="2F67B2"/>
                </a:solidFill>
                <a:latin typeface="Aptos"/>
              </a:defRPr>
            </a:pPr>
            <a:r>
              <a:t>Task objective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74519" y="896112"/>
            <a:ext cx="9509760" cy="59436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>
              <a:defRPr sz="1450" b="0">
                <a:solidFill>
                  <a:srgbClr val="23282D"/>
                </a:solidFill>
                <a:latin typeface="Aptos"/>
              </a:defRPr>
            </a:pPr>
            <a:r>
              <a:t>Use WebSocket technology to enable instant messaging between users.</a:t>
            </a:r>
          </a:p>
        </p:txBody>
      </p:sp>
      <p:pic>
        <p:nvPicPr>
          <p:cNvPr id="7" name="Picture 6" descr="task4_outp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" y="1785961"/>
            <a:ext cx="7397495" cy="415475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549640" y="1783080"/>
            <a:ext cx="2926080" cy="32004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>
              <a:defRPr sz="1550" b="1">
                <a:solidFill>
                  <a:srgbClr val="18365C"/>
                </a:solidFill>
                <a:latin typeface="Aptos"/>
              </a:defRPr>
            </a:pPr>
            <a:r>
              <a:t>Key features demonstrated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49640" y="2240280"/>
            <a:ext cx="283464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30">
                <a:solidFill>
                  <a:srgbClr val="23282D"/>
                </a:solidFill>
                <a:latin typeface="Aptos"/>
              </a:defRPr>
            </a:pPr>
            <a:r>
              <a:t>•  Conversation list</a:t>
            </a:r>
          </a:p>
          <a:p>
            <a:pPr>
              <a:spcAft>
                <a:spcPts val="800"/>
              </a:spcAft>
              <a:defRPr sz="1330">
                <a:solidFill>
                  <a:srgbClr val="23282D"/>
                </a:solidFill>
                <a:latin typeface="Aptos"/>
              </a:defRPr>
            </a:pPr>
            <a:r>
              <a:t>•  Online status</a:t>
            </a:r>
          </a:p>
          <a:p>
            <a:pPr>
              <a:spcAft>
                <a:spcPts val="800"/>
              </a:spcAft>
              <a:defRPr sz="1330">
                <a:solidFill>
                  <a:srgbClr val="23282D"/>
                </a:solidFill>
                <a:latin typeface="Aptos"/>
              </a:defRPr>
            </a:pPr>
            <a:r>
              <a:t>•  Message history</a:t>
            </a:r>
          </a:p>
          <a:p>
            <a:pPr>
              <a:spcAft>
                <a:spcPts val="800"/>
              </a:spcAft>
              <a:defRPr sz="1330">
                <a:solidFill>
                  <a:srgbClr val="23282D"/>
                </a:solidFill>
                <a:latin typeface="Aptos"/>
              </a:defRPr>
            </a:pPr>
            <a:r>
              <a:t>•  Sender/receiver message styling</a:t>
            </a:r>
          </a:p>
          <a:p>
            <a:pPr>
              <a:spcAft>
                <a:spcPts val="800"/>
              </a:spcAft>
              <a:defRPr sz="1330">
                <a:solidFill>
                  <a:srgbClr val="23282D"/>
                </a:solidFill>
                <a:latin typeface="Aptos"/>
              </a:defRPr>
            </a:pPr>
            <a:r>
              <a:t>•  Message composer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94360" y="6510528"/>
            <a:ext cx="10972800" cy="10972"/>
          </a:xfrm>
          <a:prstGeom prst="rect">
            <a:avLst/>
          </a:prstGeom>
          <a:solidFill>
            <a:srgbClr val="D6DC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94360" y="6556248"/>
            <a:ext cx="73152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66707A"/>
                </a:solidFill>
                <a:latin typeface="Aptos"/>
              </a:defRPr>
            </a:pPr>
            <a:r>
              <a:t>Anand Raj  |  Web Development Internship  |  Prodigy InfoTech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0" y="6528816"/>
            <a:ext cx="7315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6707A"/>
                </a:solidFill>
                <a:latin typeface="Aptos"/>
              </a:defRPr>
            </a:pPr>
            <a: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685800" y="1691640"/>
            <a:ext cx="7543800" cy="4343400"/>
          </a:xfrm>
          <a:prstGeom prst="rect">
            <a:avLst/>
          </a:prstGeom>
          <a:noFill/>
          <a:ln w="12700">
            <a:solidFill>
              <a:srgbClr val="D6DC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F67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94360" y="274320"/>
            <a:ext cx="108813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8365C"/>
                </a:solidFill>
                <a:latin typeface="Aptos Display"/>
              </a:defRPr>
            </a:pPr>
            <a:r>
              <a:t>Task 5 – Social Media Platform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914400"/>
            <a:ext cx="1554480" cy="27432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>
              <a:defRPr sz="1300" b="1">
                <a:solidFill>
                  <a:srgbClr val="2F67B2"/>
                </a:solidFill>
                <a:latin typeface="Aptos"/>
              </a:defRPr>
            </a:pPr>
            <a:r>
              <a:t>Task objective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74519" y="896112"/>
            <a:ext cx="9509760" cy="59436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>
              <a:defRPr sz="1450" b="0">
                <a:solidFill>
                  <a:srgbClr val="23282D"/>
                </a:solidFill>
                <a:latin typeface="Aptos"/>
              </a:defRPr>
            </a:pPr>
            <a:r>
              <a:t>Allow users to create profiles, share posts and interact with other users.</a:t>
            </a:r>
          </a:p>
        </p:txBody>
      </p:sp>
      <p:pic>
        <p:nvPicPr>
          <p:cNvPr id="7" name="Picture 6" descr="task5_outp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" y="1785961"/>
            <a:ext cx="7397495" cy="415475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549640" y="1783080"/>
            <a:ext cx="2926080" cy="32004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>
              <a:defRPr sz="1550" b="1">
                <a:solidFill>
                  <a:srgbClr val="18365C"/>
                </a:solidFill>
                <a:latin typeface="Aptos"/>
              </a:defRPr>
            </a:pPr>
            <a:r>
              <a:t>Key features demonstrated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49640" y="2240280"/>
            <a:ext cx="283464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30">
                <a:solidFill>
                  <a:srgbClr val="23282D"/>
                </a:solidFill>
                <a:latin typeface="Aptos"/>
              </a:defRPr>
            </a:pPr>
            <a:r>
              <a:t>•  User profile</a:t>
            </a:r>
          </a:p>
          <a:p>
            <a:pPr>
              <a:spcAft>
                <a:spcPts val="800"/>
              </a:spcAft>
              <a:defRPr sz="1330">
                <a:solidFill>
                  <a:srgbClr val="23282D"/>
                </a:solidFill>
                <a:latin typeface="Aptos"/>
              </a:defRPr>
            </a:pPr>
            <a:r>
              <a:t>•  Post composer</a:t>
            </a:r>
          </a:p>
          <a:p>
            <a:pPr>
              <a:spcAft>
                <a:spcPts val="800"/>
              </a:spcAft>
              <a:defRPr sz="1330">
                <a:solidFill>
                  <a:srgbClr val="23282D"/>
                </a:solidFill>
                <a:latin typeface="Aptos"/>
              </a:defRPr>
            </a:pPr>
            <a:r>
              <a:t>•  Feed-style post</a:t>
            </a:r>
          </a:p>
          <a:p>
            <a:pPr>
              <a:spcAft>
                <a:spcPts val="800"/>
              </a:spcAft>
              <a:defRPr sz="1330">
                <a:solidFill>
                  <a:srgbClr val="23282D"/>
                </a:solidFill>
                <a:latin typeface="Aptos"/>
              </a:defRPr>
            </a:pPr>
            <a:r>
              <a:t>•  Likes / comments / share controls</a:t>
            </a:r>
          </a:p>
          <a:p>
            <a:pPr>
              <a:spcAft>
                <a:spcPts val="800"/>
              </a:spcAft>
              <a:defRPr sz="1330">
                <a:solidFill>
                  <a:srgbClr val="23282D"/>
                </a:solidFill>
                <a:latin typeface="Aptos"/>
              </a:defRPr>
            </a:pPr>
            <a:r>
              <a:t>•  Trending topics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94360" y="6510528"/>
            <a:ext cx="10972800" cy="10972"/>
          </a:xfrm>
          <a:prstGeom prst="rect">
            <a:avLst/>
          </a:prstGeom>
          <a:solidFill>
            <a:srgbClr val="D6DC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94360" y="6556248"/>
            <a:ext cx="73152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66707A"/>
                </a:solidFill>
                <a:latin typeface="Aptos"/>
              </a:defRPr>
            </a:pPr>
            <a:r>
              <a:t>Anand Raj  |  Web Development Internship  |  Prodigy InfoTech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0" y="6528816"/>
            <a:ext cx="7315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6707A"/>
                </a:solidFill>
                <a:latin typeface="Aptos"/>
              </a:defRPr>
            </a:pPr>
            <a: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F67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94360" y="274320"/>
            <a:ext cx="108813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8365C"/>
                </a:solidFill>
                <a:latin typeface="Aptos Display"/>
              </a:defRPr>
            </a:pPr>
            <a:r>
              <a:t>Results &amp; Learning Outcomes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914400"/>
            <a:ext cx="10607040" cy="59436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>
              <a:defRPr sz="1700" b="0">
                <a:solidFill>
                  <a:srgbClr val="23282D"/>
                </a:solidFill>
                <a:latin typeface="Aptos"/>
              </a:defRPr>
            </a:pPr>
            <a:r>
              <a:t>The internship connected requirements, implementation, testing and documentation across a range of web application concepts.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83080"/>
            <a:ext cx="2743200" cy="32004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>
              <a:defRPr sz="1800" b="1">
                <a:solidFill>
                  <a:srgbClr val="18365C"/>
                </a:solidFill>
                <a:latin typeface="Aptos"/>
              </a:defRPr>
            </a:pPr>
            <a:r>
              <a:t>Key outcomes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194560"/>
            <a:ext cx="557784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380">
                <a:solidFill>
                  <a:srgbClr val="23282D"/>
                </a:solidFill>
                <a:latin typeface="Aptos"/>
              </a:defRPr>
            </a:pPr>
            <a:r>
              <a:t>•  Improved understanding of full-stack web application structure.</a:t>
            </a:r>
          </a:p>
          <a:p>
            <a:pPr>
              <a:spcAft>
                <a:spcPts val="700"/>
              </a:spcAft>
              <a:defRPr sz="1380">
                <a:solidFill>
                  <a:srgbClr val="23282D"/>
                </a:solidFill>
                <a:latin typeface="Aptos"/>
              </a:defRPr>
            </a:pPr>
            <a:r>
              <a:t>•  Practical experience with HTML, CSS and JavaScript.</a:t>
            </a:r>
          </a:p>
          <a:p>
            <a:pPr>
              <a:spcAft>
                <a:spcPts val="700"/>
              </a:spcAft>
              <a:defRPr sz="1380">
                <a:solidFill>
                  <a:srgbClr val="23282D"/>
                </a:solidFill>
                <a:latin typeface="Aptos"/>
              </a:defRPr>
            </a:pPr>
            <a:r>
              <a:t>•  Better understanding of Node.js and Express.js.</a:t>
            </a:r>
          </a:p>
          <a:p>
            <a:pPr>
              <a:spcAft>
                <a:spcPts val="700"/>
              </a:spcAft>
              <a:defRPr sz="1380">
                <a:solidFill>
                  <a:srgbClr val="23282D"/>
                </a:solidFill>
                <a:latin typeface="Aptos"/>
              </a:defRPr>
            </a:pPr>
            <a:r>
              <a:t>•  Understanding of secure password storage and token-based authentication.</a:t>
            </a:r>
          </a:p>
          <a:p>
            <a:pPr>
              <a:spcAft>
                <a:spcPts val="700"/>
              </a:spcAft>
              <a:defRPr sz="1380">
                <a:solidFill>
                  <a:srgbClr val="23282D"/>
                </a:solidFill>
                <a:latin typeface="Aptos"/>
              </a:defRPr>
            </a:pPr>
            <a:r>
              <a:t>•  Practical experience connecting an application to MongoDB.</a:t>
            </a:r>
          </a:p>
          <a:p>
            <a:pPr>
              <a:spcAft>
                <a:spcPts val="700"/>
              </a:spcAft>
              <a:defRPr sz="1380">
                <a:solidFill>
                  <a:srgbClr val="23282D"/>
                </a:solidFill>
                <a:latin typeface="Aptos"/>
              </a:defRPr>
            </a:pPr>
            <a:r>
              <a:t>•  Improved debugging and browser-based testing skills.</a:t>
            </a:r>
          </a:p>
          <a:p>
            <a:pPr>
              <a:spcAft>
                <a:spcPts val="700"/>
              </a:spcAft>
              <a:defRPr sz="1380">
                <a:solidFill>
                  <a:srgbClr val="23282D"/>
                </a:solidFill>
                <a:latin typeface="Aptos"/>
              </a:defRPr>
            </a:pPr>
            <a:r>
              <a:t>•  Better ability to translate task requirements into interfaces.</a:t>
            </a:r>
          </a:p>
          <a:p>
            <a:pPr>
              <a:spcAft>
                <a:spcPts val="700"/>
              </a:spcAft>
              <a:defRPr sz="1380">
                <a:solidFill>
                  <a:srgbClr val="23282D"/>
                </a:solidFill>
                <a:latin typeface="Aptos"/>
              </a:defRPr>
            </a:pPr>
            <a:r>
              <a:t>•  Experience documenting development work with screenshots and reports.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03720" y="1783080"/>
            <a:ext cx="2743200" cy="32004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>
              <a:defRPr sz="1800" b="1">
                <a:solidFill>
                  <a:srgbClr val="18365C"/>
                </a:solidFill>
                <a:latin typeface="Aptos"/>
              </a:defRPr>
            </a:pPr>
            <a:r>
              <a:t>Development workflow</a:t>
            </a:r>
          </a:p>
        </p:txBody>
      </p:sp>
      <p:sp>
        <p:nvSpPr>
          <p:cNvPr id="9" name="Oval 8"/>
          <p:cNvSpPr/>
          <p:nvPr/>
        </p:nvSpPr>
        <p:spPr>
          <a:xfrm>
            <a:off x="6995160" y="2240280"/>
            <a:ext cx="384048" cy="384048"/>
          </a:xfrm>
          <a:prstGeom prst="ellipse">
            <a:avLst/>
          </a:prstGeom>
          <a:solidFill>
            <a:srgbClr val="2F67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995160" y="2258568"/>
            <a:ext cx="384048" cy="27432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43800" y="2221992"/>
            <a:ext cx="3017520" cy="32004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>
              <a:defRPr sz="1400" b="0">
                <a:solidFill>
                  <a:srgbClr val="23282D"/>
                </a:solidFill>
                <a:latin typeface="Aptos"/>
              </a:defRPr>
            </a:pPr>
            <a:r>
              <a:t>Requirement</a:t>
            </a:r>
          </a:p>
        </p:txBody>
      </p:sp>
      <p:sp>
        <p:nvSpPr>
          <p:cNvPr id="12" name="Oval 11"/>
          <p:cNvSpPr/>
          <p:nvPr/>
        </p:nvSpPr>
        <p:spPr>
          <a:xfrm>
            <a:off x="6995160" y="2898648"/>
            <a:ext cx="384048" cy="384048"/>
          </a:xfrm>
          <a:prstGeom prst="ellipse">
            <a:avLst/>
          </a:prstGeom>
          <a:solidFill>
            <a:srgbClr val="2F67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995160" y="2916936"/>
            <a:ext cx="384048" cy="27432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43800" y="2880360"/>
            <a:ext cx="3017520" cy="32004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>
              <a:defRPr sz="1400" b="0">
                <a:solidFill>
                  <a:srgbClr val="23282D"/>
                </a:solidFill>
                <a:latin typeface="Aptos"/>
              </a:defRPr>
            </a:pPr>
            <a:r>
              <a:t>UI / Structure</a:t>
            </a:r>
          </a:p>
        </p:txBody>
      </p:sp>
      <p:sp>
        <p:nvSpPr>
          <p:cNvPr id="15" name="Oval 14"/>
          <p:cNvSpPr/>
          <p:nvPr/>
        </p:nvSpPr>
        <p:spPr>
          <a:xfrm>
            <a:off x="6995160" y="3557016"/>
            <a:ext cx="384048" cy="384048"/>
          </a:xfrm>
          <a:prstGeom prst="ellipse">
            <a:avLst/>
          </a:prstGeom>
          <a:solidFill>
            <a:srgbClr val="2F67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995160" y="3575304"/>
            <a:ext cx="384048" cy="27432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543800" y="3538728"/>
            <a:ext cx="3017520" cy="32004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>
              <a:defRPr sz="1400" b="0">
                <a:solidFill>
                  <a:srgbClr val="23282D"/>
                </a:solidFill>
                <a:latin typeface="Aptos"/>
              </a:defRPr>
            </a:pPr>
            <a:r>
              <a:t>Backend / Data</a:t>
            </a:r>
          </a:p>
        </p:txBody>
      </p:sp>
      <p:sp>
        <p:nvSpPr>
          <p:cNvPr id="18" name="Oval 17"/>
          <p:cNvSpPr/>
          <p:nvPr/>
        </p:nvSpPr>
        <p:spPr>
          <a:xfrm>
            <a:off x="6995160" y="4215384"/>
            <a:ext cx="384048" cy="384048"/>
          </a:xfrm>
          <a:prstGeom prst="ellipse">
            <a:avLst/>
          </a:prstGeom>
          <a:solidFill>
            <a:srgbClr val="2F67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995160" y="4233672"/>
            <a:ext cx="384048" cy="27432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543800" y="4197096"/>
            <a:ext cx="3017520" cy="32004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>
              <a:defRPr sz="1400" b="0">
                <a:solidFill>
                  <a:srgbClr val="23282D"/>
                </a:solidFill>
                <a:latin typeface="Aptos"/>
              </a:defRPr>
            </a:pPr>
            <a:r>
              <a:t>Testing</a:t>
            </a:r>
          </a:p>
        </p:txBody>
      </p:sp>
      <p:sp>
        <p:nvSpPr>
          <p:cNvPr id="21" name="Oval 20"/>
          <p:cNvSpPr/>
          <p:nvPr/>
        </p:nvSpPr>
        <p:spPr>
          <a:xfrm>
            <a:off x="6995160" y="4873752"/>
            <a:ext cx="384048" cy="384048"/>
          </a:xfrm>
          <a:prstGeom prst="ellipse">
            <a:avLst/>
          </a:prstGeom>
          <a:solidFill>
            <a:srgbClr val="2F67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995160" y="4892040"/>
            <a:ext cx="384048" cy="27432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543800" y="4855464"/>
            <a:ext cx="3017520" cy="32004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>
              <a:defRPr sz="1400" b="1">
                <a:solidFill>
                  <a:srgbClr val="23282D"/>
                </a:solidFill>
                <a:latin typeface="Aptos"/>
              </a:defRPr>
            </a:pPr>
            <a:r>
              <a:t>Documentation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4360" y="6510528"/>
            <a:ext cx="10972800" cy="10972"/>
          </a:xfrm>
          <a:prstGeom prst="rect">
            <a:avLst/>
          </a:prstGeom>
          <a:solidFill>
            <a:srgbClr val="D6DC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594360" y="6556248"/>
            <a:ext cx="73152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66707A"/>
                </a:solidFill>
                <a:latin typeface="Aptos"/>
              </a:defRPr>
            </a:pPr>
            <a:r>
              <a:t>Anand Raj  |  Web Development Internship  |  Prodigy InfoTech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789920" y="6528816"/>
            <a:ext cx="7315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6707A"/>
                </a:solidFill>
                <a:latin typeface="Aptos"/>
              </a:defRPr>
            </a:pPr>
            <a: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/>
          <p:cNvSpPr/>
          <p:nvPr/>
        </p:nvSpPr>
        <p:spPr>
          <a:xfrm>
            <a:off x="1828800" y="868680"/>
            <a:ext cx="8549640" cy="5440680"/>
          </a:xfrm>
          <a:prstGeom prst="rect">
            <a:avLst/>
          </a:prstGeom>
          <a:noFill/>
          <a:ln w="12700">
            <a:solidFill>
              <a:srgbClr val="D6DC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F67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94360" y="274320"/>
            <a:ext cx="108813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8365C"/>
                </a:solidFill>
                <a:latin typeface="Aptos Display"/>
              </a:defRPr>
            </a:pPr>
            <a:r>
              <a:t>Supporting Document – Offer Letter</a:t>
            </a:r>
          </a:p>
        </p:txBody>
      </p:sp>
      <p:pic>
        <p:nvPicPr>
          <p:cNvPr id="5" name="Picture 4" descr="8139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17310" y="923544"/>
            <a:ext cx="3772620" cy="5330952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94360" y="6510528"/>
            <a:ext cx="10972800" cy="10972"/>
          </a:xfrm>
          <a:prstGeom prst="rect">
            <a:avLst/>
          </a:prstGeom>
          <a:solidFill>
            <a:srgbClr val="D6DC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94360" y="6556248"/>
            <a:ext cx="73152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66707A"/>
                </a:solidFill>
                <a:latin typeface="Aptos"/>
              </a:defRPr>
            </a:pPr>
            <a:r>
              <a:t>Anand Raj  |  Web Development Internship  |  Prodigy InfoTech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0" y="6528816"/>
            <a:ext cx="7315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6707A"/>
                </a:solidFill>
                <a:latin typeface="Aptos"/>
              </a:defRPr>
            </a:pPr>
            <a: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/>
          <p:cNvSpPr/>
          <p:nvPr/>
        </p:nvSpPr>
        <p:spPr>
          <a:xfrm>
            <a:off x="1005840" y="914400"/>
            <a:ext cx="10149840" cy="5394960"/>
          </a:xfrm>
          <a:prstGeom prst="rect">
            <a:avLst/>
          </a:prstGeom>
          <a:noFill/>
          <a:ln w="12700">
            <a:solidFill>
              <a:srgbClr val="D6DC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F67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94360" y="274320"/>
            <a:ext cx="108813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8365C"/>
                </a:solidFill>
                <a:latin typeface="Aptos Display"/>
              </a:defRPr>
            </a:pPr>
            <a:r>
              <a:t>Supporting Document – Internship Completion Certificate</a:t>
            </a:r>
          </a:p>
        </p:txBody>
      </p:sp>
      <p:pic>
        <p:nvPicPr>
          <p:cNvPr id="5" name="Picture 4" descr="8137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30204" y="960120"/>
            <a:ext cx="7501111" cy="530352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94360" y="6510528"/>
            <a:ext cx="10972800" cy="10972"/>
          </a:xfrm>
          <a:prstGeom prst="rect">
            <a:avLst/>
          </a:prstGeom>
          <a:solidFill>
            <a:srgbClr val="D6DC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94360" y="6556248"/>
            <a:ext cx="73152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66707A"/>
                </a:solidFill>
                <a:latin typeface="Aptos"/>
              </a:defRPr>
            </a:pPr>
            <a:r>
              <a:t>Anand Raj  |  Web Development Internship  |  Prodigy InfoTech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0" y="6528816"/>
            <a:ext cx="7315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6707A"/>
                </a:solidFill>
                <a:latin typeface="Aptos"/>
              </a:defRPr>
            </a:pPr>
            <a: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F67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94360" y="274320"/>
            <a:ext cx="108813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8365C"/>
                </a:solidFill>
                <a:latin typeface="Aptos Display"/>
              </a:defRPr>
            </a:pPr>
            <a:r>
              <a:t>Conclusion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43000"/>
            <a:ext cx="10698480" cy="68580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>
              <a:defRPr sz="3400" b="1">
                <a:solidFill>
                  <a:srgbClr val="18365C"/>
                </a:solidFill>
                <a:latin typeface="Aptos Display"/>
              </a:defRPr>
            </a:pPr>
            <a:r>
              <a:t>Thank You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920240"/>
            <a:ext cx="10698480" cy="36576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>
              <a:defRPr sz="1900" b="1">
                <a:solidFill>
                  <a:srgbClr val="2F67B2"/>
                </a:solidFill>
                <a:latin typeface="Aptos"/>
              </a:defRPr>
            </a:pPr>
            <a:r>
              <a:t>Web Development Internship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331720"/>
            <a:ext cx="10698480" cy="36576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>
              <a:defRPr sz="1600" b="0">
                <a:solidFill>
                  <a:srgbClr val="23282D"/>
                </a:solidFill>
                <a:latin typeface="Aptos"/>
              </a:defRPr>
            </a:pPr>
            <a:r>
              <a:t>Prodigy InfoTech</a:t>
            </a:r>
          </a:p>
        </p:txBody>
      </p:sp>
      <p:sp>
        <p:nvSpPr>
          <p:cNvPr id="8" name="Rectangle 7"/>
          <p:cNvSpPr/>
          <p:nvPr/>
        </p:nvSpPr>
        <p:spPr>
          <a:xfrm>
            <a:off x="2057400" y="3063240"/>
            <a:ext cx="8092440" cy="1417320"/>
          </a:xfrm>
          <a:prstGeom prst="rect">
            <a:avLst/>
          </a:prstGeom>
          <a:solidFill>
            <a:srgbClr val="FFFFFF"/>
          </a:solidFill>
          <a:ln>
            <a:solidFill>
              <a:srgbClr val="D6DC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423160" y="3401568"/>
            <a:ext cx="7360920" cy="82296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>
              <a:defRPr sz="1600" b="0">
                <a:solidFill>
                  <a:srgbClr val="23282D"/>
                </a:solidFill>
                <a:latin typeface="Aptos"/>
              </a:defRPr>
            </a:pPr>
            <a:r>
              <a:t>The internship strengthened practical skills in web development, authentication,</a:t>
            </a:r>
            <a:br/>
            <a:r>
              <a:t>backend APIs, database connectivity, testing and technical documentation.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5074920"/>
            <a:ext cx="10698480" cy="32004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>
              <a:defRPr sz="1300" b="1">
                <a:solidFill>
                  <a:srgbClr val="66707A"/>
                </a:solidFill>
                <a:latin typeface="Aptos"/>
              </a:defRPr>
            </a:pPr>
            <a:r>
              <a:t>ANAND RAJ  |  B.Tech CSE  |  IILM University, Greater Noida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94360" y="6510528"/>
            <a:ext cx="10972800" cy="10972"/>
          </a:xfrm>
          <a:prstGeom prst="rect">
            <a:avLst/>
          </a:prstGeom>
          <a:solidFill>
            <a:srgbClr val="D6DC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94360" y="6556248"/>
            <a:ext cx="73152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66707A"/>
                </a:solidFill>
                <a:latin typeface="Aptos"/>
              </a:defRPr>
            </a:pPr>
            <a:r>
              <a:t>Anand Raj  |  Web Development Internship  |  Prodigy InfoTech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89920" y="6528816"/>
            <a:ext cx="7315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6707A"/>
                </a:solidFill>
                <a:latin typeface="Aptos"/>
              </a:defRPr>
            </a:pPr>
            <a:r>
              <a:t>14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Office PowerPoint</Application>
  <PresentationFormat>Widescreen</PresentationFormat>
  <Paragraphs>0</Paragraphs>
  <Slides>14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5" baseType="lpstr"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/>
  <cp:keywords/>
  <dc:description>generated using python-pptx</dc:description>
  <cp:lastModifiedBy>Anand Raj177</cp:lastModifiedBy>
  <cp:revision>3</cp:revision>
  <dcterms:created xsi:type="dcterms:W3CDTF">2013-01-27T09:14:16Z</dcterms:created>
  <dcterms:modified xsi:type="dcterms:W3CDTF">2026-09-09T14:22:22Z</dcterms:modified>
  <cp:category/>
</cp:coreProperties>
</file>